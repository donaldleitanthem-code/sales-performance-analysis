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2" r:id="rId9"/>
    <p:sldId id="268" r:id="rId10"/>
    <p:sldId id="263" r:id="rId11"/>
    <p:sldId id="264" r:id="rId12"/>
    <p:sldId id="265" r:id="rId13"/>
    <p:sldId id="266" r:id="rId14"/>
  </p:sldIdLst>
  <p:sldSz cx="24384000" cy="13716000"/>
  <p:notesSz cx="13716000" cy="24384000"/>
  <p:embeddedFontLst>
    <p:embeddedFont>
      <p:font typeface="微软雅黑" panose="020B0503020204020204" pitchFamily="34" charset="-122"/>
      <p:regular r:id="rId16"/>
      <p:bold r:id="rId17"/>
    </p:embeddedFont>
    <p:embeddedFont>
      <p:font typeface="Coda" panose="020B0604020202020204" charset="0"/>
      <p:regular r:id="rId18"/>
    </p:embeddedFont>
    <p:embeddedFont>
      <p:font typeface="Quattrocento Sans" panose="020B0502050000020003" pitchFamily="3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5" d="100"/>
          <a:sy n="45" d="100"/>
        </p:scale>
        <p:origin x="370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(INR)</c:v>
                </c:pt>
              </c:strCache>
            </c:strRef>
          </c:tx>
          <c:spPr>
            <a:solidFill>
              <a:srgbClr val="4361E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Furniture</c:v>
                </c:pt>
                <c:pt idx="1">
                  <c:v>Office Supplies</c:v>
                </c:pt>
                <c:pt idx="2">
                  <c:v>Technology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208291</c:v>
                </c:pt>
                <c:pt idx="1">
                  <c:v>205516</c:v>
                </c:pt>
                <c:pt idx="2">
                  <c:v>251992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7C-4061-BAEF-1E1CEE4416B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(INR)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Furniture</c:v>
                </c:pt>
                <c:pt idx="1">
                  <c:v>Office Supplies</c:v>
                </c:pt>
                <c:pt idx="2">
                  <c:v>Technology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5200</c:v>
                </c:pt>
                <c:pt idx="1">
                  <c:v>82000</c:v>
                </c:pt>
                <c:pt idx="2">
                  <c:v>72000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A7C-4061-BAEF-1E1CEE4416B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Quantity</c:v>
                </c:pt>
              </c:strCache>
            </c:strRef>
          </c:tx>
          <c:spPr>
            <a:solidFill>
              <a:srgbClr val="4BACC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Furniture</c:v>
                </c:pt>
                <c:pt idx="1">
                  <c:v>Office Supplies</c:v>
                </c:pt>
                <c:pt idx="2">
                  <c:v>Technology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1200</c:v>
                </c:pt>
                <c:pt idx="1">
                  <c:v>15200</c:v>
                </c:pt>
                <c:pt idx="2">
                  <c:v>5800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A7C-4061-BAEF-1E1CEE4416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A78-4D8A-A02F-B6EBE8079142}"/>
              </c:ext>
            </c:extLst>
          </c:dPt>
          <c:dPt>
            <c:idx val="1"/>
            <c:bubble3D val="0"/>
            <c:spPr>
              <a:solidFill>
                <a:srgbClr val="4361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A78-4D8A-A02F-B6EBE8079142}"/>
              </c:ext>
            </c:extLst>
          </c:dPt>
          <c:dPt>
            <c:idx val="2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A78-4D8A-A02F-B6EBE8079142}"/>
              </c:ext>
            </c:extLst>
          </c:dPt>
          <c:dPt>
            <c:idx val="3"/>
            <c:bubble3D val="0"/>
            <c:spPr>
              <a:solidFill>
                <a:srgbClr val="F796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A78-4D8A-A02F-B6EBE807914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A78-4D8A-A02F-B6EBE807914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A78-4D8A-A02F-B6EBE8079142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A78-4D8A-A02F-B6EBE8079142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A78-4D8A-A02F-B6EBE807914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West</c:v>
                </c:pt>
                <c:pt idx="1">
                  <c:v>South</c:v>
                </c:pt>
                <c:pt idx="2">
                  <c:v>Central</c:v>
                </c:pt>
                <c:pt idx="3">
                  <c:v>East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73000</c:v>
                </c:pt>
                <c:pt idx="1">
                  <c:v>52000</c:v>
                </c:pt>
                <c:pt idx="2">
                  <c:v>42000</c:v>
                </c:pt>
                <c:pt idx="3">
                  <c:v>41291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A78-4D8A-A02F-B6EBE80791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4D2-4156-9E6D-E6460AA50524}"/>
              </c:ext>
            </c:extLst>
          </c:dPt>
          <c:dPt>
            <c:idx val="1"/>
            <c:bubble3D val="0"/>
            <c:spPr>
              <a:solidFill>
                <a:srgbClr val="F796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4D2-4156-9E6D-E6460AA50524}"/>
              </c:ext>
            </c:extLst>
          </c:dPt>
          <c:dPt>
            <c:idx val="2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4D2-4156-9E6D-E6460AA50524}"/>
              </c:ext>
            </c:extLst>
          </c:dPt>
          <c:dPt>
            <c:idx val="3"/>
            <c:bubble3D val="0"/>
            <c:spPr>
              <a:solidFill>
                <a:srgbClr val="4361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4D2-4156-9E6D-E6460AA50524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4D2-4156-9E6D-E6460AA50524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4D2-4156-9E6D-E6460AA50524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4D2-4156-9E6D-E6460AA50524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4D2-4156-9E6D-E6460AA5052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West</c:v>
                </c:pt>
                <c:pt idx="1">
                  <c:v>East</c:v>
                </c:pt>
                <c:pt idx="2">
                  <c:v>Central</c:v>
                </c:pt>
                <c:pt idx="3">
                  <c:v>South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62000</c:v>
                </c:pt>
                <c:pt idx="1">
                  <c:v>58000</c:v>
                </c:pt>
                <c:pt idx="2">
                  <c:v>45000</c:v>
                </c:pt>
                <c:pt idx="3">
                  <c:v>40516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4D2-4156-9E6D-E6460AA505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796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C38-4618-A372-2BC92EE2431E}"/>
              </c:ext>
            </c:extLst>
          </c:dPt>
          <c:dPt>
            <c:idx val="1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C38-4618-A372-2BC92EE2431E}"/>
              </c:ext>
            </c:extLst>
          </c:dPt>
          <c:dPt>
            <c:idx val="2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C38-4618-A372-2BC92EE2431E}"/>
              </c:ext>
            </c:extLst>
          </c:dPt>
          <c:dPt>
            <c:idx val="3"/>
            <c:bubble3D val="0"/>
            <c:spPr>
              <a:solidFill>
                <a:srgbClr val="4361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C38-4618-A372-2BC92EE2431E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C38-4618-A372-2BC92EE2431E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C38-4618-A372-2BC92EE2431E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C38-4618-A372-2BC92EE2431E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C38-4618-A372-2BC92EE2431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East</c:v>
                </c:pt>
                <c:pt idx="1">
                  <c:v>West</c:v>
                </c:pt>
                <c:pt idx="2">
                  <c:v>Central</c:v>
                </c:pt>
                <c:pt idx="3">
                  <c:v>South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80000</c:v>
                </c:pt>
                <c:pt idx="1">
                  <c:v>70000</c:v>
                </c:pt>
                <c:pt idx="2">
                  <c:v>55000</c:v>
                </c:pt>
                <c:pt idx="3">
                  <c:v>46992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C38-4618-A372-2BC92EE243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1079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36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371600" y="1384300"/>
            <a:ext cx="21640800" cy="0"/>
          </a:xfrm>
          <a:prstGeom prst="line">
            <a:avLst/>
          </a:prstGeom>
          <a:noFill/>
          <a:ln w="9525">
            <a:solidFill>
              <a:srgbClr val="0F1B3D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371600" y="12338050"/>
            <a:ext cx="21640800" cy="0"/>
          </a:xfrm>
          <a:prstGeom prst="line">
            <a:avLst/>
          </a:prstGeom>
          <a:noFill/>
          <a:ln w="9525">
            <a:solidFill>
              <a:srgbClr val="0F1B3D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1249680" y="3556000"/>
            <a:ext cx="16510000" cy="711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60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SALES </a:t>
            </a:r>
            <a:r>
              <a:rPr lang="en-US" sz="160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PERFORMANCE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49680" y="10922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Insights &amp; Growth Roadmap | FY 2015-2017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0558252" y="1448562"/>
            <a:ext cx="2601468" cy="684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00000"/>
              </a:lnSpc>
            </a:pPr>
            <a:r>
              <a:rPr lang="en-US" sz="3330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April 2026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1764411"/>
            <a:ext cx="666623" cy="666623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8" name="Shape 6"/>
          <p:cNvSpPr/>
          <p:nvPr/>
        </p:nvSpPr>
        <p:spPr>
          <a:xfrm>
            <a:off x="20127468" y="8379841"/>
            <a:ext cx="2910332" cy="2910332"/>
          </a:xfrm>
          <a:prstGeom prst="rect">
            <a:avLst/>
          </a:prstGeom>
          <a:solidFill>
            <a:srgbClr val="0F1B3D"/>
          </a:solidFill>
          <a:ln/>
        </p:spPr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58900" y="7620000"/>
          <a:ext cx="21653500" cy="4711701"/>
        </p:xfrm>
        <a:graphic>
          <a:graphicData uri="http://schemas.openxmlformats.org/drawingml/2006/table">
            <a:tbl>
              <a:tblPr/>
              <a:tblGrid>
                <a:gridCol w="1082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2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705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01  Executive Summary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DAAC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02  Key Findings &amp; Insights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DAA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05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03  Strategic Recommendations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DAAC2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 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DAAC2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05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 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DAAC2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 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DAAC2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Shape 0"/>
          <p:cNvSpPr/>
          <p:nvPr/>
        </p:nvSpPr>
        <p:spPr>
          <a:xfrm flipV="1">
            <a:off x="1371600" y="1384300"/>
            <a:ext cx="21640800" cy="0"/>
          </a:xfrm>
          <a:prstGeom prst="line">
            <a:avLst/>
          </a:prstGeom>
          <a:noFill/>
          <a:ln w="9525">
            <a:solidFill>
              <a:srgbClr val="0F1B3D"/>
            </a:solidFill>
            <a:prstDash val="solid"/>
            <a:headEnd type="none"/>
            <a:tailEnd type="none"/>
          </a:ln>
        </p:spPr>
      </p:sp>
      <p:sp>
        <p:nvSpPr>
          <p:cNvPr id="4" name="Shape 1"/>
          <p:cNvSpPr/>
          <p:nvPr/>
        </p:nvSpPr>
        <p:spPr>
          <a:xfrm>
            <a:off x="12261850" y="1384300"/>
            <a:ext cx="0" cy="5880100"/>
          </a:xfrm>
          <a:prstGeom prst="line">
            <a:avLst/>
          </a:prstGeom>
          <a:noFill/>
          <a:ln w="9525">
            <a:solidFill>
              <a:srgbClr val="0F1B3D"/>
            </a:solidFill>
            <a:prstDash val="solid"/>
            <a:headEnd type="none"/>
            <a:tailEnd type="none"/>
          </a:ln>
        </p:spPr>
      </p:sp>
      <p:pic>
        <p:nvPicPr>
          <p:cNvPr id="5" name="Image 0" descr="https://kimi-img.moonshot.cn/pub/slides/okc/d4go5h2hkcq5u/mnt/agents/output/sales_analysis/images/2_Power_UI_Dark_Blue_Power_BI_Dashboard.png"/>
          <p:cNvPicPr>
            <a:picLocks noChangeAspect="1"/>
          </p:cNvPicPr>
          <p:nvPr/>
        </p:nvPicPr>
        <p:blipFill>
          <a:blip r:embed="rId3"/>
          <a:srcRect t="14390" b="14390"/>
          <a:stretch/>
        </p:blipFill>
        <p:spPr>
          <a:xfrm>
            <a:off x="12682220" y="1714373"/>
            <a:ext cx="10330180" cy="55178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98880" y="4917313"/>
            <a:ext cx="10721340" cy="258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333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AGENDA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1371600" y="1764411"/>
            <a:ext cx="666623" cy="666623"/>
          </a:xfrm>
          <a:prstGeom prst="rect">
            <a:avLst/>
          </a:prstGeom>
          <a:solidFill>
            <a:srgbClr val="0F1B3D"/>
          </a:solidFill>
          <a:ln/>
        </p:spPr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36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d4go5h2hkcq5u/mnt/agents/output/sales_analysis/images/1_168_714_Blue_Business_Growth_Graph.png"/>
          <p:cNvPicPr>
            <a:picLocks noChangeAspect="1"/>
          </p:cNvPicPr>
          <p:nvPr/>
        </p:nvPicPr>
        <p:blipFill>
          <a:blip r:embed="rId3"/>
          <a:srcRect t="10980" b="10980"/>
          <a:stretch/>
        </p:blipFill>
        <p:spPr>
          <a:xfrm>
            <a:off x="12666472" y="0"/>
            <a:ext cx="11717528" cy="13716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V="1">
            <a:off x="1371600" y="1384300"/>
            <a:ext cx="11294872" cy="0"/>
          </a:xfrm>
          <a:prstGeom prst="line">
            <a:avLst/>
          </a:prstGeom>
          <a:noFill/>
          <a:ln w="9525">
            <a:solidFill>
              <a:srgbClr val="0F1B3D"/>
            </a:solidFill>
            <a:prstDash val="solid"/>
            <a:headEnd type="none"/>
            <a:tailEnd type="none"/>
          </a:ln>
        </p:spPr>
      </p:sp>
      <p:sp>
        <p:nvSpPr>
          <p:cNvPr id="4" name="Shape 1"/>
          <p:cNvSpPr/>
          <p:nvPr/>
        </p:nvSpPr>
        <p:spPr>
          <a:xfrm>
            <a:off x="12672822" y="0"/>
            <a:ext cx="0" cy="13716000"/>
          </a:xfrm>
          <a:prstGeom prst="line">
            <a:avLst/>
          </a:prstGeom>
          <a:noFill/>
          <a:ln w="9525">
            <a:solidFill>
              <a:srgbClr val="0F1B3D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1371600" y="12338050"/>
            <a:ext cx="11294872" cy="6350"/>
          </a:xfrm>
          <a:prstGeom prst="line">
            <a:avLst/>
          </a:prstGeom>
          <a:noFill/>
          <a:ln w="9525">
            <a:solidFill>
              <a:srgbClr val="0F1B3D"/>
            </a:solidFill>
            <a:prstDash val="solid"/>
            <a:headEnd type="none"/>
            <a:tailEnd type="none"/>
          </a:ln>
        </p:spPr>
      </p:sp>
      <p:sp>
        <p:nvSpPr>
          <p:cNvPr id="6" name="Text 3"/>
          <p:cNvSpPr/>
          <p:nvPr/>
        </p:nvSpPr>
        <p:spPr>
          <a:xfrm>
            <a:off x="1249680" y="3410839"/>
            <a:ext cx="9297162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20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01 </a:t>
            </a:r>
            <a:r>
              <a:rPr lang="en-US" sz="120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EXECUTIVE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20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SUMMARY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49680" y="9271000"/>
            <a:ext cx="9297162" cy="2898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core metrics exceed targets, but profit growth lags behind volume growth — signaling margin pressure.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371600" y="1764411"/>
            <a:ext cx="666623" cy="666623"/>
          </a:xfrm>
          <a:prstGeom prst="rect">
            <a:avLst/>
          </a:prstGeom>
          <a:solidFill>
            <a:srgbClr val="0F1B3D"/>
          </a:solidFill>
          <a:ln/>
        </p:spPr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5DDE36-367F-0CDD-0397-A2ADF8E03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38667"/>
            <a:ext cx="24383999" cy="1314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352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6604000"/>
          <a:ext cx="21640800" cy="6096000"/>
        </p:xfrm>
        <a:graphic>
          <a:graphicData uri="http://schemas.openxmlformats.org/drawingml/2006/table">
            <a:tbl>
              <a:tblPr/>
              <a:tblGrid>
                <a:gridCol w="4328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5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5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361E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37,873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DAAC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Total Quantity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DAAC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2C5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Target: 30,000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l"/>
                      <a:r>
                        <a:rPr lang="en-US" sz="1400" u="none" dirty="0">
                          <a:solidFill>
                            <a:srgbClr val="22C5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+26.24% above target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DAA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2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361E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22.97L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DAAC2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Total Sales (INR)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DAAC2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2C5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Target: 22.00L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l"/>
                      <a:r>
                        <a:rPr lang="en-US" sz="1400" u="none" dirty="0">
                          <a:solidFill>
                            <a:srgbClr val="22C5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+4.42% above target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DAAC2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361E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2.86L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DAAC2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Total Profit (INR)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DAAC2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2C5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Target: 2.80L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l"/>
                      <a:r>
                        <a:rPr lang="en-US" sz="1400" u="none" dirty="0">
                          <a:solidFill>
                            <a:srgbClr val="22C5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+2.28% above target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DAAC2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1198880" y="2599055"/>
            <a:ext cx="22352000" cy="258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333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KPI </a:t>
            </a:r>
            <a:r>
              <a:rPr lang="en-US" sz="1333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 flipV="1">
            <a:off x="1371600" y="1384300"/>
            <a:ext cx="21640800" cy="0"/>
          </a:xfrm>
          <a:prstGeom prst="line">
            <a:avLst/>
          </a:prstGeom>
          <a:noFill/>
          <a:ln w="9525">
            <a:solidFill>
              <a:srgbClr val="4361EE"/>
            </a:solidFill>
            <a:prstDash val="solid"/>
            <a:headEnd type="none"/>
            <a:tailEnd type="none"/>
          </a:ln>
        </p:spPr>
      </p:sp>
      <p:sp>
        <p:nvSpPr>
          <p:cNvPr id="2" name="Shape 2"/>
          <p:cNvSpPr/>
          <p:nvPr/>
        </p:nvSpPr>
        <p:spPr>
          <a:xfrm>
            <a:off x="1371600" y="5461000"/>
            <a:ext cx="21640800" cy="76200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6" name="Text 3"/>
          <p:cNvSpPr/>
          <p:nvPr/>
        </p:nvSpPr>
        <p:spPr>
          <a:xfrm>
            <a:off x="1625600" y="5461000"/>
            <a:ext cx="211328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Quantity grew +26.24% but Profit only +2.28% — margin per unit is compressing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371600" y="1764411"/>
            <a:ext cx="666623" cy="666623"/>
          </a:xfrm>
          <a:prstGeom prst="rect">
            <a:avLst/>
          </a:prstGeom>
          <a:solidFill>
            <a:srgbClr val="0F1B3D"/>
          </a:solidFill>
          <a:ln/>
        </p:spPr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36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d4go5h2hkcq5u/mnt/agents/output/sales_analysis/images/3_Business_Analytics_Dashboard_Charts.png"/>
          <p:cNvPicPr>
            <a:picLocks noChangeAspect="1"/>
          </p:cNvPicPr>
          <p:nvPr/>
        </p:nvPicPr>
        <p:blipFill>
          <a:blip r:embed="rId3"/>
          <a:srcRect t="10980" b="10980"/>
          <a:stretch/>
        </p:blipFill>
        <p:spPr>
          <a:xfrm>
            <a:off x="12666472" y="0"/>
            <a:ext cx="11717528" cy="13716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V="1">
            <a:off x="1371600" y="1384300"/>
            <a:ext cx="11294872" cy="0"/>
          </a:xfrm>
          <a:prstGeom prst="line">
            <a:avLst/>
          </a:prstGeom>
          <a:noFill/>
          <a:ln w="9525">
            <a:solidFill>
              <a:srgbClr val="0F1B3D"/>
            </a:solidFill>
            <a:prstDash val="solid"/>
            <a:headEnd type="none"/>
            <a:tailEnd type="none"/>
          </a:ln>
        </p:spPr>
      </p:sp>
      <p:sp>
        <p:nvSpPr>
          <p:cNvPr id="4" name="Shape 1"/>
          <p:cNvSpPr/>
          <p:nvPr/>
        </p:nvSpPr>
        <p:spPr>
          <a:xfrm>
            <a:off x="12672822" y="0"/>
            <a:ext cx="0" cy="13716000"/>
          </a:xfrm>
          <a:prstGeom prst="line">
            <a:avLst/>
          </a:prstGeom>
          <a:noFill/>
          <a:ln w="9525">
            <a:solidFill>
              <a:srgbClr val="0F1B3D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1371600" y="12338050"/>
            <a:ext cx="11294872" cy="6350"/>
          </a:xfrm>
          <a:prstGeom prst="line">
            <a:avLst/>
          </a:prstGeom>
          <a:noFill/>
          <a:ln w="9525">
            <a:solidFill>
              <a:srgbClr val="0F1B3D"/>
            </a:solidFill>
            <a:prstDash val="solid"/>
            <a:headEnd type="none"/>
            <a:tailEnd type="none"/>
          </a:ln>
        </p:spPr>
      </p:sp>
      <p:sp>
        <p:nvSpPr>
          <p:cNvPr id="6" name="Text 3"/>
          <p:cNvSpPr/>
          <p:nvPr/>
        </p:nvSpPr>
        <p:spPr>
          <a:xfrm>
            <a:off x="1249680" y="3410839"/>
            <a:ext cx="9297162" cy="4029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333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02 </a:t>
            </a:r>
            <a:r>
              <a:rPr lang="en-US" sz="1333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KEY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333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FINDINGS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49680" y="7572121"/>
            <a:ext cx="9297162" cy="2898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Deep-dive into category performance reveals divergent profitability patterns across Furniture, Office Supplies, and Technology.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371600" y="1764411"/>
            <a:ext cx="666623" cy="666623"/>
          </a:xfrm>
          <a:prstGeom prst="rect">
            <a:avLst/>
          </a:prstGeom>
          <a:solidFill>
            <a:srgbClr val="0F1B3D"/>
          </a:solidFill>
          <a:ln/>
        </p:spPr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371600" y="1384300"/>
            <a:ext cx="21640800" cy="0"/>
          </a:xfrm>
          <a:prstGeom prst="line">
            <a:avLst/>
          </a:prstGeom>
          <a:noFill/>
          <a:ln w="9525">
            <a:solidFill>
              <a:srgbClr val="0F1B3D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371600" y="2540000"/>
            <a:ext cx="21640800" cy="101600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4" name="Text 2"/>
          <p:cNvSpPr/>
          <p:nvPr/>
        </p:nvSpPr>
        <p:spPr>
          <a:xfrm>
            <a:off x="1625600" y="2540000"/>
            <a:ext cx="211328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7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CATEGORY PERFORMANCE — Divergent Profitability Patterns</a:t>
            </a:r>
            <a:endParaRPr lang="en-US" sz="1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1371600" y="3556000"/>
          <a:ext cx="11430000" cy="736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13335000" y="3556000"/>
            <a:ext cx="9677400" cy="2159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3589000" y="4064000"/>
            <a:ext cx="635000" cy="6350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5"/>
          <p:cNvSpPr/>
          <p:nvPr/>
        </p:nvSpPr>
        <p:spPr>
          <a:xfrm>
            <a:off x="14414500" y="3683000"/>
            <a:ext cx="83439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Furniture — Red Flag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sales (₹2.08L) but minimal profit (~₹5K) and very low volume. Worst profit-to-sales ratio in the portfolio.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3335000" y="6223000"/>
            <a:ext cx="9677400" cy="2032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3589000" y="6223000"/>
            <a:ext cx="635000" cy="63500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11" name="Text 8"/>
          <p:cNvSpPr/>
          <p:nvPr/>
        </p:nvSpPr>
        <p:spPr>
          <a:xfrm>
            <a:off x="14414500" y="6223000"/>
            <a:ext cx="83439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4361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Technology — Revenue Driver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Highest sales (₹2.52L) with moderate profit. Drives top-line but needs margin focus to improve bottom-line.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3335000" y="8509000"/>
            <a:ext cx="9677400" cy="2032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3589000" y="8636000"/>
            <a:ext cx="635000" cy="6350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1"/>
          <p:cNvSpPr/>
          <p:nvPr/>
        </p:nvSpPr>
        <p:spPr>
          <a:xfrm>
            <a:off x="14414500" y="8509000"/>
            <a:ext cx="83439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Office Supplies — Steady Performer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balanced profile: high quantity (15K+ units), solid sales, and healthy profit margins.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371600" y="1764411"/>
            <a:ext cx="666623" cy="666623"/>
          </a:xfrm>
          <a:prstGeom prst="rect">
            <a:avLst/>
          </a:prstGeom>
          <a:solidFill>
            <a:srgbClr val="0F1B3D"/>
          </a:solidFill>
          <a:ln/>
        </p:spPr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371600" y="1384300"/>
            <a:ext cx="21640800" cy="0"/>
          </a:xfrm>
          <a:prstGeom prst="line">
            <a:avLst/>
          </a:prstGeom>
          <a:noFill/>
          <a:ln w="9525">
            <a:solidFill>
              <a:srgbClr val="4361EE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1198880" y="2540000"/>
            <a:ext cx="2235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0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SALES BY </a:t>
            </a:r>
            <a:r>
              <a:rPr lang="en-US" sz="80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REGION</a:t>
            </a:r>
            <a:endParaRPr lang="en-US" sz="1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1371600" y="4064000"/>
          <a:ext cx="6731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8509000" y="4064000"/>
          <a:ext cx="6731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2"/>
          <p:cNvGraphicFramePr/>
          <p:nvPr/>
        </p:nvGraphicFramePr>
        <p:xfrm>
          <a:off x="15646400" y="4064000"/>
          <a:ext cx="6731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" name="Text 2"/>
          <p:cNvSpPr/>
          <p:nvPr/>
        </p:nvSpPr>
        <p:spPr>
          <a:xfrm>
            <a:off x="1371600" y="10160000"/>
            <a:ext cx="216408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4361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Insight:</a:t>
            </a: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Regional strengths are category-specific — cross-sell underperforming categories in strong regions</a:t>
            </a: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>
            <a:off x="1371600" y="1764411"/>
            <a:ext cx="666623" cy="666623"/>
          </a:xfrm>
          <a:prstGeom prst="rect">
            <a:avLst/>
          </a:prstGeom>
          <a:solidFill>
            <a:srgbClr val="4361EE"/>
          </a:solidFill>
          <a:ln/>
        </p:spPr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16930C-F174-5145-50BC-3DA8655AD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268" y="119113"/>
            <a:ext cx="23452666" cy="13055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231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36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d4go5h2hkcq5u/mnt/agents/output/sales_analysis/images/6_Free_Corporate_strategy_discussion.png"/>
          <p:cNvPicPr>
            <a:picLocks noChangeAspect="1"/>
          </p:cNvPicPr>
          <p:nvPr/>
        </p:nvPicPr>
        <p:blipFill>
          <a:blip r:embed="rId3"/>
          <a:srcRect t="10980" b="10980"/>
          <a:stretch/>
        </p:blipFill>
        <p:spPr>
          <a:xfrm>
            <a:off x="12666472" y="0"/>
            <a:ext cx="11717528" cy="13716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V="1">
            <a:off x="1371600" y="1384300"/>
            <a:ext cx="11294872" cy="0"/>
          </a:xfrm>
          <a:prstGeom prst="line">
            <a:avLst/>
          </a:prstGeom>
          <a:noFill/>
          <a:ln w="9525">
            <a:solidFill>
              <a:srgbClr val="0F1B3D"/>
            </a:solidFill>
            <a:prstDash val="solid"/>
            <a:headEnd type="none"/>
            <a:tailEnd type="none"/>
          </a:ln>
        </p:spPr>
      </p:sp>
      <p:sp>
        <p:nvSpPr>
          <p:cNvPr id="4" name="Shape 1"/>
          <p:cNvSpPr/>
          <p:nvPr/>
        </p:nvSpPr>
        <p:spPr>
          <a:xfrm>
            <a:off x="12672822" y="0"/>
            <a:ext cx="0" cy="13716000"/>
          </a:xfrm>
          <a:prstGeom prst="line">
            <a:avLst/>
          </a:prstGeom>
          <a:noFill/>
          <a:ln w="9525">
            <a:solidFill>
              <a:srgbClr val="0F1B3D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1371600" y="12338050"/>
            <a:ext cx="11294872" cy="6350"/>
          </a:xfrm>
          <a:prstGeom prst="line">
            <a:avLst/>
          </a:prstGeom>
          <a:noFill/>
          <a:ln w="9525">
            <a:solidFill>
              <a:srgbClr val="0F1B3D"/>
            </a:solidFill>
            <a:prstDash val="solid"/>
            <a:headEnd type="none"/>
            <a:tailEnd type="none"/>
          </a:ln>
        </p:spPr>
      </p:sp>
      <p:sp>
        <p:nvSpPr>
          <p:cNvPr id="6" name="Text 3"/>
          <p:cNvSpPr/>
          <p:nvPr/>
        </p:nvSpPr>
        <p:spPr>
          <a:xfrm>
            <a:off x="1249680" y="3410839"/>
            <a:ext cx="9297162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00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03 </a:t>
            </a:r>
            <a:r>
              <a:rPr lang="en-US" sz="100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STRATEGIC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0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RECOMMEN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0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DATIONS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49680" y="8636000"/>
            <a:ext cx="9297162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data to action — addressing margin gaps, loss-making SKUs, and regional optimization.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371600" y="1764411"/>
            <a:ext cx="666623" cy="666623"/>
          </a:xfrm>
          <a:prstGeom prst="rect">
            <a:avLst/>
          </a:prstGeom>
          <a:solidFill>
            <a:srgbClr val="0F1B3D"/>
          </a:solidFill>
          <a:ln/>
        </p:spPr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371600" y="1384300"/>
            <a:ext cx="21640800" cy="0"/>
          </a:xfrm>
          <a:prstGeom prst="line">
            <a:avLst/>
          </a:prstGeom>
          <a:noFill/>
          <a:ln w="9525">
            <a:solidFill>
              <a:srgbClr val="0F1B3D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371600" y="2540000"/>
            <a:ext cx="21640800" cy="101600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4" name="Text 2"/>
          <p:cNvSpPr/>
          <p:nvPr/>
        </p:nvSpPr>
        <p:spPr>
          <a:xfrm>
            <a:off x="1625600" y="2540000"/>
            <a:ext cx="211328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7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AREAS — Margin Compression &amp; Loss SKUs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371600" y="3556000"/>
            <a:ext cx="6731000" cy="6350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3556000"/>
            <a:ext cx="6731000" cy="101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1752600" y="3937000"/>
            <a:ext cx="5969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52600" y="5080000"/>
            <a:ext cx="596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Margin Compression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52600" y="5842000"/>
            <a:ext cx="5969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Profit growth (+2.28%) severely lags quantity growth (+26.24%). Average margin per unit has declined significantly.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Impact:</a:t>
            </a:r>
            <a:r>
              <a:rPr lang="en-US" sz="2200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Every additional unit sold contributes less to bottom line than before.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509000" y="3810000"/>
            <a:ext cx="6731000" cy="6350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09000" y="3810000"/>
            <a:ext cx="6731000" cy="10160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2" name="Text 10"/>
          <p:cNvSpPr/>
          <p:nvPr/>
        </p:nvSpPr>
        <p:spPr>
          <a:xfrm>
            <a:off x="8890000" y="4191000"/>
            <a:ext cx="5969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7964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WARNING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90000" y="5080000"/>
            <a:ext cx="596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Furniture Category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890000" y="5842000"/>
            <a:ext cx="5969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sales value (₹2.08L) with minimal profit. High-ticket items like conference tables and chairs yield poor returns.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Impact:</a:t>
            </a:r>
            <a:r>
              <a:rPr lang="en-US" sz="2200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Capital tied up in low-margin inventory that could be reallocated.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5646400" y="3556000"/>
            <a:ext cx="6731000" cy="6350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646400" y="3556000"/>
            <a:ext cx="6731000" cy="101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16027400" y="4191000"/>
            <a:ext cx="5969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27400" y="5080000"/>
            <a:ext cx="596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Loss-Making SKUs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027400" y="5842000"/>
            <a:ext cx="5969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products show negative profit: Holmes Odor Grabber, Logitech Keyboard, Woodgrain Magazine Files.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Impact:</a:t>
            </a:r>
            <a:r>
              <a:rPr lang="en-US" sz="2200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These SKUs actively destroy value with every sale. Immediate action required.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371600" y="1764411"/>
            <a:ext cx="666623" cy="666623"/>
          </a:xfrm>
          <a:prstGeom prst="rect">
            <a:avLst/>
          </a:prstGeom>
          <a:solidFill>
            <a:srgbClr val="0F1B3D"/>
          </a:solidFill>
          <a:ln/>
        </p:spPr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371600" y="1384300"/>
            <a:ext cx="21640800" cy="0"/>
          </a:xfrm>
          <a:prstGeom prst="line">
            <a:avLst/>
          </a:prstGeom>
          <a:noFill/>
          <a:ln w="9525">
            <a:solidFill>
              <a:srgbClr val="0F1B3D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371600" y="2540000"/>
            <a:ext cx="21640800" cy="101600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4" name="Text 2"/>
          <p:cNvSpPr/>
          <p:nvPr/>
        </p:nvSpPr>
        <p:spPr>
          <a:xfrm>
            <a:off x="1625600" y="2540000"/>
            <a:ext cx="211328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7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 PLAN — Prioritized Solutions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 flipV="1">
            <a:off x="1816100" y="4318000"/>
            <a:ext cx="4826000" cy="12700"/>
          </a:xfrm>
          <a:prstGeom prst="line">
            <a:avLst/>
          </a:prstGeom>
          <a:noFill/>
          <a:ln w="9525">
            <a:solidFill>
              <a:srgbClr val="0F1B3D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7239000" y="4318000"/>
            <a:ext cx="4826000" cy="12700"/>
          </a:xfrm>
          <a:prstGeom prst="line">
            <a:avLst/>
          </a:prstGeom>
          <a:noFill/>
          <a:ln w="9525">
            <a:solidFill>
              <a:srgbClr val="0F1B3D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12661900" y="4318000"/>
            <a:ext cx="4826000" cy="12700"/>
          </a:xfrm>
          <a:prstGeom prst="line">
            <a:avLst/>
          </a:prstGeom>
          <a:noFill/>
          <a:ln w="9525">
            <a:solidFill>
              <a:srgbClr val="0F1B3D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18084800" y="4318000"/>
            <a:ext cx="4826000" cy="12700"/>
          </a:xfrm>
          <a:prstGeom prst="line">
            <a:avLst/>
          </a:prstGeom>
          <a:noFill/>
          <a:ln w="9525">
            <a:solidFill>
              <a:srgbClr val="0F1B3D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384300" y="4102100"/>
            <a:ext cx="431800" cy="431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Shape 8"/>
          <p:cNvSpPr/>
          <p:nvPr/>
        </p:nvSpPr>
        <p:spPr>
          <a:xfrm>
            <a:off x="1593850" y="4533900"/>
            <a:ext cx="0" cy="3175000"/>
          </a:xfrm>
          <a:prstGeom prst="line">
            <a:avLst/>
          </a:prstGeom>
          <a:noFill/>
          <a:ln w="12700">
            <a:solidFill>
              <a:srgbClr val="0F1B3D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6807200" y="4102100"/>
            <a:ext cx="431800" cy="43180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2" name="Shape 10"/>
          <p:cNvSpPr/>
          <p:nvPr/>
        </p:nvSpPr>
        <p:spPr>
          <a:xfrm>
            <a:off x="7016750" y="4533900"/>
            <a:ext cx="0" cy="3175000"/>
          </a:xfrm>
          <a:prstGeom prst="line">
            <a:avLst/>
          </a:prstGeom>
          <a:noFill/>
          <a:ln w="12700">
            <a:solidFill>
              <a:srgbClr val="0F1B3D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12230100" y="4102100"/>
            <a:ext cx="431800" cy="43180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14" name="Shape 12"/>
          <p:cNvSpPr/>
          <p:nvPr/>
        </p:nvSpPr>
        <p:spPr>
          <a:xfrm>
            <a:off x="12439650" y="4533900"/>
            <a:ext cx="0" cy="3175000"/>
          </a:xfrm>
          <a:prstGeom prst="line">
            <a:avLst/>
          </a:prstGeom>
          <a:noFill/>
          <a:ln w="12700">
            <a:solidFill>
              <a:srgbClr val="0F1B3D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7653000" y="4102100"/>
            <a:ext cx="431800" cy="4318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6" name="Shape 14"/>
          <p:cNvSpPr/>
          <p:nvPr/>
        </p:nvSpPr>
        <p:spPr>
          <a:xfrm>
            <a:off x="17862550" y="4533900"/>
            <a:ext cx="0" cy="3175000"/>
          </a:xfrm>
          <a:prstGeom prst="line">
            <a:avLst/>
          </a:prstGeom>
          <a:noFill/>
          <a:ln w="12700">
            <a:solidFill>
              <a:srgbClr val="0F1B3D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1866900" y="4699000"/>
            <a:ext cx="4381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Immediate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866900" y="5461000"/>
            <a:ext cx="43815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Discontinue or reprice 3 loss-making SKUs identified in the dataset.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Owner:</a:t>
            </a:r>
            <a:r>
              <a:rPr lang="en-US" sz="2200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Product Team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Timeline:</a:t>
            </a:r>
            <a:r>
              <a:rPr lang="en-US" sz="2200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2 weeks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89800" y="4699000"/>
            <a:ext cx="4381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7964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Short-Term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289800" y="5461000"/>
            <a:ext cx="43815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Review Furniture pricing strategy. Investigate why high-ticket items yield minimal profit.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Owner:</a:t>
            </a:r>
            <a:r>
              <a:rPr lang="en-US" sz="2200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Pricing Team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Timeline:</a:t>
            </a:r>
            <a:r>
              <a:rPr lang="en-US" sz="2200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 month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712700" y="4699000"/>
            <a:ext cx="4381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361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Medium-Term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712700" y="5461000"/>
            <a:ext cx="43815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Expand Technology in West and Central regions where it currently underperforms.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Owner:</a:t>
            </a:r>
            <a:r>
              <a:rPr lang="en-US" sz="2200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Sales Team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Timeline:</a:t>
            </a:r>
            <a:r>
              <a:rPr lang="en-US" sz="2200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3 months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8135600" y="4699000"/>
            <a:ext cx="4381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Ongoing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8135600" y="5461000"/>
            <a:ext cx="43815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dynamic margin tracking dashboard to prevent future profit-quantity divergence.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Owner:</a:t>
            </a:r>
            <a:r>
              <a:rPr lang="en-US" sz="2200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Analytics Team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Timeline:</a:t>
            </a:r>
            <a:r>
              <a:rPr lang="en-US" sz="2200" dirty="0">
                <a:solidFill>
                  <a:srgbClr val="0F1B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Continuous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371600" y="8890000"/>
            <a:ext cx="21640800" cy="63500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26" name="Text 24"/>
          <p:cNvSpPr/>
          <p:nvPr/>
        </p:nvSpPr>
        <p:spPr>
          <a:xfrm>
            <a:off x="1625600" y="8890000"/>
            <a:ext cx="211328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Outcome:</a:t>
            </a: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15-20% profit improvement within 6 months through SKU optimization and pricing correction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371600" y="1764411"/>
            <a:ext cx="666623" cy="666623"/>
          </a:xfrm>
          <a:prstGeom prst="rect">
            <a:avLst/>
          </a:prstGeom>
          <a:solidFill>
            <a:srgbClr val="0F1B3D"/>
          </a:solidFill>
          <a:ln/>
        </p:spPr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94787" y="3175000"/>
            <a:ext cx="18394299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00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KEY TAKEAWAY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115689" y="6096000"/>
            <a:ext cx="16152495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"Volume is growing, but margins are thinning.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path to sustainable growth lies in optimizing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category mix, eliminating loss-making SKUs,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 aligning regional strategies with profit goals."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115689" y="9144000"/>
            <a:ext cx="16152495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4361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Target: 15-20% Profit Improvement | Timeline: 6 Months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37406" y="2921000"/>
            <a:ext cx="16109188" cy="0"/>
          </a:xfrm>
          <a:prstGeom prst="line">
            <a:avLst/>
          </a:prstGeom>
          <a:noFill/>
          <a:ln w="9525">
            <a:solidFill>
              <a:srgbClr val="4361EE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4137406" y="10414000"/>
            <a:ext cx="16109188" cy="0"/>
          </a:xfrm>
          <a:prstGeom prst="line">
            <a:avLst/>
          </a:prstGeom>
          <a:noFill/>
          <a:ln w="9525">
            <a:solidFill>
              <a:srgbClr val="4361EE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539</Words>
  <Application>Microsoft Office PowerPoint</Application>
  <PresentationFormat>Custom</PresentationFormat>
  <Paragraphs>104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Quattrocento Sans</vt:lpstr>
      <vt:lpstr>微软雅黑</vt:lpstr>
      <vt:lpstr>Arial</vt:lpstr>
      <vt:lpstr>Coda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Performance Analysis</dc:title>
  <dc:subject>Sales Performance Analysis</dc:subject>
  <dc:creator>Kimi</dc:creator>
  <cp:lastModifiedBy>Donald Leitanthem</cp:lastModifiedBy>
  <cp:revision>3</cp:revision>
  <dcterms:created xsi:type="dcterms:W3CDTF">2026-04-27T23:07:06Z</dcterms:created>
  <dcterms:modified xsi:type="dcterms:W3CDTF">2026-04-30T08:41:21Z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{"Label":"Sales Performance Analysis","ContentProducer":"001191110108MACG2KBH8F10000","ProduceID":"19dd12b0-af62-82e7-8000-0000bd99474d","ReservedCode1":"","ContentPropagator":"001191110108MACG2KBH8F20000","PropagateID":"19dd12b0-af62-82e7-8000-0000bd99474d","ReservedCode2":""}</vt:lpwstr>
  </property>
</Properties>
</file>